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61" r:id="rId1"/>
  </p:sldMasterIdLst>
  <p:notesMasterIdLst>
    <p:notesMasterId r:id="rId15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70" r:id="rId9"/>
    <p:sldId id="262" r:id="rId10"/>
    <p:sldId id="263" r:id="rId11"/>
    <p:sldId id="268" r:id="rId12"/>
    <p:sldId id="265" r:id="rId13"/>
    <p:sldId id="266" r:id="rId14"/>
  </p:sldIdLst>
  <p:sldSz cx="9144000" cy="6858000" type="screen4x3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94709" autoAdjust="0"/>
  </p:normalViewPr>
  <p:slideViewPr>
    <p:cSldViewPr>
      <p:cViewPr varScale="1">
        <p:scale>
          <a:sx n="103" d="100"/>
          <a:sy n="103" d="100"/>
        </p:scale>
        <p:origin x="902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2" name="Text box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3" name="Text box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charset="0"/>
                <a:ea typeface="宋体" charset="0"/>
                <a:cs typeface="Calibri" charset="0"/>
              </a:rPr>
              <a:t>10/13/2025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4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5" name="Text box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6" name="Text box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934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204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2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947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3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640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5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8" name="Object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59" name="Text box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" name="Text box"/>
          <p:cNvSpPr>
            <a:spLocks noGrp="1"/>
          </p:cNvSpPr>
          <p:nvPr>
            <p:ph type="sldNum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charset="0"/>
                <a:ea typeface="宋体" charset="0"/>
                <a:cs typeface="Lucida Sans"/>
              </a:r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802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6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238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7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326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9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297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10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188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12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582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Text box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13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721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e"/>
          <p:cNvSpPr>
            <a:spLocks/>
          </p:cNvSpPr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19"/>
            </a:avLst>
          </a:prstGeom>
          <a:solidFill>
            <a:srgbClr val="FCE2E2">
              <a:alpha val="33000"/>
            </a:srgbClr>
          </a:solidFill>
          <a:ln w="3175" cap="rnd" cmpd="sng">
            <a:solidFill>
              <a:srgbClr val="F50000"/>
            </a:solidFill>
            <a:prstDash val="solid"/>
            <a:round/>
          </a:ln>
        </p:spPr>
      </p:sp>
      <p:sp>
        <p:nvSpPr>
          <p:cNvPr id="28" name="Oval"/>
          <p:cNvSpPr>
            <a:spLocks/>
          </p:cNvSpPr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>
            <a:solidFill>
              <a:srgbClr val="FF9C9C"/>
            </a:solidFill>
            <a:prstDash val="solid"/>
            <a:round/>
          </a:ln>
          <a:effectLst>
            <a:outerShdw blurRad="25400" dist="25400" dir="5400000" algn="tl" rotWithShape="0">
              <a:srgbClr val="AF0000">
                <a:alpha val="84705"/>
              </a:srgbClr>
            </a:outerShdw>
          </a:effectLst>
        </p:spPr>
      </p:sp>
      <p:sp>
        <p:nvSpPr>
          <p:cNvPr id="27" name="同心圆"/>
          <p:cNvSpPr>
            <a:spLocks/>
          </p:cNvSpPr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rgbClr val="FFEAEA">
                  <a:alpha val="69803"/>
                </a:srgbClr>
              </a:gs>
              <a:gs pos="70000">
                <a:srgbClr val="FFF2F2">
                  <a:alpha val="54901"/>
                </a:srgbClr>
              </a:gs>
              <a:gs pos="100000">
                <a:srgbClr val="FF0000">
                  <a:alpha val="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7350" cap="rnd" cmpd="sng">
            <a:solidFill>
              <a:srgbClr val="F40000"/>
            </a:solidFill>
            <a:prstDash val="solid"/>
            <a:round/>
          </a:ln>
          <a:effectLst>
            <a:outerShdw blurRad="12700" dist="15000" dir="4500000" algn="tl" rotWithShape="0">
              <a:srgbClr val="610000">
                <a:alpha val="34509"/>
              </a:srgbClr>
            </a:outerShdw>
          </a:effectLst>
        </p:spPr>
      </p:sp>
      <p:sp>
        <p:nvSpPr>
          <p:cNvPr id="26" name="Rectangle"/>
          <p:cNvSpPr>
            <a:spLocks/>
          </p:cNvSpPr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>
            <a:noFill/>
            <a:prstDash val="solid"/>
            <a:round/>
          </a:ln>
        </p:spPr>
      </p:sp>
      <p:sp>
        <p:nvSpPr>
          <p:cNvPr id="25" name="Rectangle"/>
          <p:cNvSpPr>
            <a:spLocks/>
          </p:cNvSpPr>
          <p:nvPr/>
        </p:nvSpPr>
        <p:spPr>
          <a:xfrm>
            <a:off x="1014984" y="-54"/>
            <a:ext cx="73151" cy="6858054"/>
          </a:xfrm>
          <a:prstGeom prst="rect">
            <a:avLst/>
          </a:prstGeom>
          <a:solidFill>
            <a:schemeClr val="bg1"/>
          </a:solidFill>
          <a:ln w="25400" cap="rnd" cmpd="sng">
            <a:noFill/>
            <a:prstDash val="solid"/>
            <a:round/>
          </a:ln>
          <a:effectLst>
            <a:outerShdw blurRad="38550" dist="38000" dir="10800000" algn="tl" rotWithShape="0">
              <a:srgbClr val="600000">
                <a:alpha val="24705"/>
              </a:srgbClr>
            </a:outerShdw>
          </a:effectLst>
        </p:spPr>
      </p:sp>
      <p:sp>
        <p:nvSpPr>
          <p:cNvPr id="18" name="Text box"/>
          <p:cNvSpPr>
            <a:spLocks noGrp="1"/>
          </p:cNvSpPr>
          <p:nvPr>
            <p:ph type="ctrTitle"/>
          </p:nvPr>
        </p:nvSpPr>
        <p:spPr>
          <a:xfrm>
            <a:off x="1432560" y="359897"/>
            <a:ext cx="7406639" cy="147218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300" b="0" i="0" u="none" strike="noStrike" kern="1200" cap="none" spc="0" baseline="0">
                <a:solidFill>
                  <a:srgbClr val="572314"/>
                </a:solidFill>
                <a:latin typeface="Gill Sans MT" charset="0"/>
                <a:ea typeface="华文中宋" charset="0"/>
                <a:cs typeface="Lucida Sans"/>
              </a:rPr>
              <a:t>Click to edit Master title style</a:t>
            </a:r>
            <a:endParaRPr lang="zh-CN" altLang="en-US" sz="4300" b="0" i="0" u="none" strike="noStrike" kern="1200" cap="none" spc="0" baseline="0">
              <a:solidFill>
                <a:srgbClr val="572314"/>
              </a:solidFill>
              <a:latin typeface="Gill Sans MT" charset="0"/>
              <a:ea typeface="华文中宋" charset="0"/>
              <a:cs typeface="Lucida Sans"/>
            </a:endParaRPr>
          </a:p>
        </p:txBody>
      </p:sp>
      <p:sp>
        <p:nvSpPr>
          <p:cNvPr id="19" name="Text box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39" cy="17525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7432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2600" b="0" i="0" u="none" strike="noStrike" kern="1200" cap="none" spc="0" baseline="0">
                <a:solidFill>
                  <a:srgbClr val="320E04"/>
                </a:solidFill>
                <a:latin typeface="Gill Sans MT" charset="0"/>
                <a:ea typeface="华文中宋" charset="0"/>
                <a:cs typeface="Lucida Sans"/>
              </a:rPr>
              <a:t>Click to edit Master subtitle style</a:t>
            </a:r>
            <a:endParaRPr lang="zh-CN" altLang="en-US" sz="2600" b="0" i="0" u="none" strike="noStrike" kern="1200" cap="none" spc="0" baseline="0">
              <a:solidFill>
                <a:srgbClr val="320E04"/>
              </a:solidFill>
              <a:latin typeface="Gill Sans MT" charset="0"/>
              <a:ea typeface="华文中宋" charset="0"/>
              <a:cs typeface="Lucida Sans"/>
            </a:endParaRPr>
          </a:p>
        </p:txBody>
      </p:sp>
      <p:sp>
        <p:nvSpPr>
          <p:cNvPr id="20" name="Text box"/>
          <p:cNvSpPr>
            <a:spLocks noGrp="1"/>
          </p:cNvSpPr>
          <p:nvPr>
            <p:ph type="dt" idx="10"/>
          </p:nvPr>
        </p:nvSpPr>
        <p:spPr>
          <a:xfrm>
            <a:off x="3581399" y="6305550"/>
            <a:ext cx="2133599" cy="47625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10/9/2025</a:t>
            </a:r>
            <a:endParaRPr lang="zh-CN" altLang="en-US" sz="1200" b="0" i="0" u="none" strike="noStrike" kern="1200" cap="none" spc="0" baseline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21" name="Text box"/>
          <p:cNvSpPr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PROSPECT OF 6G APPLICATION BASED ON 5G TECHNOLOGY</a:t>
            </a:r>
            <a:endParaRPr lang="zh-CN" altLang="en-US" sz="1200" b="0" i="0" u="none" strike="noStrike" kern="1200" cap="none" spc="0" baseline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22" name="Text box"/>
          <p:cNvSpPr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‹#›</a:t>
            </a:fld>
            <a:endParaRPr lang="zh-CN" altLang="en-US" sz="1200" b="0" i="0" u="none" strike="noStrike" kern="1200" cap="none" spc="0" baseline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23" name="Oval"/>
          <p:cNvSpPr>
            <a:spLocks/>
          </p:cNvSpPr>
          <p:nvPr/>
        </p:nvSpPr>
        <p:spPr>
          <a:xfrm>
            <a:off x="921432" y="1413801"/>
            <a:ext cx="210312" cy="210312"/>
          </a:xfrm>
          <a:prstGeom prst="ellipse">
            <a:avLst/>
          </a:prstGeom>
          <a:gradFill rotWithShape="1">
            <a:gsLst>
              <a:gs pos="0">
                <a:srgbClr val="D8F4FF">
                  <a:alpha val="94901"/>
                </a:srgbClr>
              </a:gs>
              <a:gs pos="50000">
                <a:srgbClr val="C1E3F1">
                  <a:alpha val="89803"/>
                </a:srgbClr>
              </a:gs>
              <a:gs pos="95000">
                <a:srgbClr val="67C7E9">
                  <a:alpha val="87843"/>
                </a:srgbClr>
              </a:gs>
              <a:gs pos="100000">
                <a:srgbClr val="00BCF2">
                  <a:alpha val="84705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2000" cap="rnd" cmpd="sng">
            <a:solidFill>
              <a:srgbClr val="308DA5">
                <a:alpha val="60000"/>
              </a:srgbClr>
            </a:solidFill>
            <a:prstDash val="solid"/>
            <a:round/>
          </a:ln>
        </p:spPr>
      </p:sp>
      <p:sp>
        <p:nvSpPr>
          <p:cNvPr id="24" name="Oval"/>
          <p:cNvSpPr>
            <a:spLocks/>
          </p:cNvSpPr>
          <p:nvPr/>
        </p:nvSpPr>
        <p:spPr>
          <a:xfrm>
            <a:off x="1157176" y="1345016"/>
            <a:ext cx="64007" cy="64008"/>
          </a:xfrm>
          <a:prstGeom prst="ellipse">
            <a:avLst/>
          </a:prstGeom>
          <a:noFill/>
          <a:ln w="12700" cap="rnd" cmpd="sng">
            <a:solidFill>
              <a:srgbClr val="307F93">
                <a:alpha val="60000"/>
              </a:srgbClr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1408238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37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075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543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8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067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86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013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12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04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226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e"/>
          <p:cNvSpPr>
            <a:spLocks/>
          </p:cNvSpPr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19"/>
            </a:avLst>
          </a:prstGeom>
          <a:solidFill>
            <a:srgbClr val="FCE2E2">
              <a:alpha val="33000"/>
            </a:srgbClr>
          </a:solidFill>
          <a:ln w="3175" cap="rnd" cmpd="sng">
            <a:solidFill>
              <a:srgbClr val="F50000"/>
            </a:solidFill>
            <a:prstDash val="solid"/>
            <a:round/>
          </a:ln>
        </p:spPr>
      </p:sp>
      <p:sp>
        <p:nvSpPr>
          <p:cNvPr id="41" name="Oval"/>
          <p:cNvSpPr>
            <a:spLocks/>
          </p:cNvSpPr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>
            <a:solidFill>
              <a:srgbClr val="FF9C9C"/>
            </a:solidFill>
            <a:prstDash val="solid"/>
            <a:round/>
          </a:ln>
          <a:effectLst>
            <a:outerShdw blurRad="25400" dist="25400" dir="5400000" algn="tl" rotWithShape="0">
              <a:srgbClr val="AF0000">
                <a:alpha val="84705"/>
              </a:srgbClr>
            </a:outerShdw>
          </a:effectLst>
        </p:spPr>
      </p:sp>
      <p:sp>
        <p:nvSpPr>
          <p:cNvPr id="40" name="同心圆"/>
          <p:cNvSpPr>
            <a:spLocks/>
          </p:cNvSpPr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rgbClr val="FFEAEA">
                  <a:alpha val="69803"/>
                </a:srgbClr>
              </a:gs>
              <a:gs pos="70000">
                <a:srgbClr val="FFF2F2">
                  <a:alpha val="54901"/>
                </a:srgbClr>
              </a:gs>
              <a:gs pos="100000">
                <a:srgbClr val="FF0000">
                  <a:alpha val="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7350" cap="rnd" cmpd="sng">
            <a:solidFill>
              <a:srgbClr val="F40000"/>
            </a:solidFill>
            <a:prstDash val="solid"/>
            <a:round/>
          </a:ln>
          <a:effectLst>
            <a:outerShdw blurRad="12700" dist="15000" dir="4500000" algn="tl" rotWithShape="0">
              <a:srgbClr val="610000">
                <a:alpha val="34509"/>
              </a:srgbClr>
            </a:outerShdw>
          </a:effectLst>
        </p:spPr>
      </p:sp>
      <p:sp>
        <p:nvSpPr>
          <p:cNvPr id="39" name="Rectangle"/>
          <p:cNvSpPr>
            <a:spLocks/>
          </p:cNvSpPr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>
            <a:noFill/>
            <a:prstDash val="solid"/>
            <a:round/>
          </a:ln>
        </p:spPr>
      </p:sp>
      <p:sp>
        <p:nvSpPr>
          <p:cNvPr id="38" name="Rectangle"/>
          <p:cNvSpPr>
            <a:spLocks/>
          </p:cNvSpPr>
          <p:nvPr/>
        </p:nvSpPr>
        <p:spPr>
          <a:xfrm>
            <a:off x="1014984" y="-54"/>
            <a:ext cx="73151" cy="6858054"/>
          </a:xfrm>
          <a:prstGeom prst="rect">
            <a:avLst/>
          </a:prstGeom>
          <a:solidFill>
            <a:schemeClr val="bg1"/>
          </a:solidFill>
          <a:ln w="25400" cap="rnd" cmpd="sng">
            <a:noFill/>
            <a:prstDash val="solid"/>
            <a:round/>
          </a:ln>
          <a:effectLst>
            <a:outerShdw blurRad="38550" dist="38000" dir="10800000" algn="tl" rotWithShape="0">
              <a:srgbClr val="600000">
                <a:alpha val="24705"/>
              </a:srgbClr>
            </a:outerShdw>
          </a:effectLst>
        </p:spPr>
      </p:sp>
      <p:sp>
        <p:nvSpPr>
          <p:cNvPr id="33" name="Text box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4" name="Text box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35" name="Text box"/>
          <p:cNvSpPr>
            <a:spLocks noGrp="1"/>
          </p:cNvSpPr>
          <p:nvPr>
            <p:ph type="dt" idx="10"/>
          </p:nvPr>
        </p:nvSpPr>
        <p:spPr>
          <a:xfrm>
            <a:off x="3581399" y="6305550"/>
            <a:ext cx="2133599" cy="47625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 eaLnBrk="1" latinLnBrk="0" hangingPunct="1"/>
            <a:r>
              <a:rPr lang="en-US" altLang="zh-CN" sz="120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10/9/2025</a:t>
            </a:r>
            <a:endParaRPr lang="zh-CN" altLang="en-US" sz="120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36" name="Text box"/>
          <p:cNvSpPr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eaLnBrk="1" latinLnBrk="0" hangingPunct="1"/>
            <a:r>
              <a:rPr lang="en-US" altLang="zh-CN" sz="120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PROSPECT OF 6G APPLICATION BASED ON 5G TECHNOLOGY</a:t>
            </a:r>
            <a:endParaRPr lang="zh-CN" altLang="en-US" sz="120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37" name="Text box"/>
          <p:cNvSpPr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ctr" eaLnBrk="1" latinLnBrk="0" hangingPunct="1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‹#›</a:t>
            </a:fld>
            <a:endParaRPr lang="zh-CN" altLang="en-US" sz="120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47139"/>
      </p:ext>
    </p:extLst>
  </p:cSld>
  <p:clrMapOvr>
    <a:masterClrMapping/>
  </p:clrMapOvr>
  <p:hf sldNum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"/>
          <p:cNvSpPr>
            <a:spLocks/>
          </p:cNvSpPr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>
            <a:noFill/>
            <a:prstDash val="solid"/>
            <a:round/>
          </a:ln>
        </p:spPr>
      </p:sp>
      <p:sp>
        <p:nvSpPr>
          <p:cNvPr id="91" name="Text box"/>
          <p:cNvSpPr>
            <a:spLocks noGrp="1"/>
          </p:cNvSpPr>
          <p:nvPr>
            <p:ph type="dt" idx="10"/>
          </p:nvPr>
        </p:nvSpPr>
        <p:spPr>
          <a:xfrm>
            <a:off x="3581399" y="6305550"/>
            <a:ext cx="2133599" cy="47625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 eaLnBrk="1" latinLnBrk="0" hangingPunct="1"/>
            <a:r>
              <a:rPr lang="en-US" altLang="zh-CN" sz="120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10/9/2025</a:t>
            </a:r>
            <a:endParaRPr lang="zh-CN" altLang="en-US" sz="120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92" name="Text box"/>
          <p:cNvSpPr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eaLnBrk="1" latinLnBrk="0" hangingPunct="1"/>
            <a:r>
              <a:rPr lang="en-US" altLang="zh-CN" sz="120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PROSPECT OF 6G APPLICATION BASED ON 5G TECHNOLOGY</a:t>
            </a:r>
            <a:endParaRPr lang="zh-CN" altLang="en-US" sz="120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93" name="Text box"/>
          <p:cNvSpPr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ctr" eaLnBrk="1" latinLnBrk="0" hangingPunct="1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‹#›</a:t>
            </a:fld>
            <a:endParaRPr lang="zh-CN" altLang="en-US" sz="120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94" name="Rectangle"/>
          <p:cNvSpPr>
            <a:spLocks/>
          </p:cNvSpPr>
          <p:nvPr/>
        </p:nvSpPr>
        <p:spPr>
          <a:xfrm>
            <a:off x="1014984" y="-54"/>
            <a:ext cx="73151" cy="6858054"/>
          </a:xfrm>
          <a:prstGeom prst="rect">
            <a:avLst/>
          </a:prstGeom>
          <a:solidFill>
            <a:schemeClr val="bg1"/>
          </a:solidFill>
          <a:ln w="25400" cap="rnd" cmpd="sng">
            <a:noFill/>
            <a:prstDash val="solid"/>
            <a:round/>
          </a:ln>
          <a:effectLst>
            <a:outerShdw blurRad="38550" dist="38000" dir="10800000" algn="tl" rotWithShape="0">
              <a:srgbClr val="600000">
                <a:alpha val="24705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1042557246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"/>
          <p:cNvSpPr>
            <a:spLocks/>
          </p:cNvSpPr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19"/>
            </a:avLst>
          </a:prstGeom>
          <a:solidFill>
            <a:srgbClr val="FCE2E2">
              <a:alpha val="33000"/>
            </a:srgbClr>
          </a:solidFill>
          <a:ln w="3175" cap="rnd" cmpd="sng">
            <a:solidFill>
              <a:srgbClr val="F50000"/>
            </a:solidFill>
            <a:prstDash val="solid"/>
            <a:round/>
          </a:ln>
        </p:spPr>
      </p:sp>
      <p:sp>
        <p:nvSpPr>
          <p:cNvPr id="3" name="Oval"/>
          <p:cNvSpPr>
            <a:spLocks/>
          </p:cNvSpPr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>
            <a:solidFill>
              <a:srgbClr val="FF9C9C"/>
            </a:solidFill>
            <a:prstDash val="solid"/>
            <a:round/>
          </a:ln>
          <a:effectLst>
            <a:outerShdw blurRad="25400" dist="25400" dir="5400000" algn="tl" rotWithShape="0">
              <a:srgbClr val="AF0000">
                <a:alpha val="84705"/>
              </a:srgbClr>
            </a:outerShdw>
          </a:effectLst>
        </p:spPr>
      </p:sp>
      <p:sp>
        <p:nvSpPr>
          <p:cNvPr id="4" name="同心圆"/>
          <p:cNvSpPr>
            <a:spLocks/>
          </p:cNvSpPr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rgbClr val="FFEAEA">
                  <a:alpha val="69803"/>
                </a:srgbClr>
              </a:gs>
              <a:gs pos="70000">
                <a:srgbClr val="FFF2F2">
                  <a:alpha val="54901"/>
                </a:srgbClr>
              </a:gs>
              <a:gs pos="100000">
                <a:srgbClr val="FF0000">
                  <a:alpha val="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7350" cap="rnd" cmpd="sng">
            <a:solidFill>
              <a:srgbClr val="F40000"/>
            </a:solidFill>
            <a:prstDash val="solid"/>
            <a:round/>
          </a:ln>
          <a:effectLst>
            <a:outerShdw blurRad="12700" dist="15000" dir="4500000" algn="tl" rotWithShape="0">
              <a:srgbClr val="610000">
                <a:alpha val="34509"/>
              </a:srgbClr>
            </a:outerShdw>
          </a:effectLst>
        </p:spPr>
      </p:sp>
      <p:sp>
        <p:nvSpPr>
          <p:cNvPr id="5" name="Rectangle"/>
          <p:cNvSpPr>
            <a:spLocks/>
          </p:cNvSpPr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>
            <a:noFill/>
            <a:prstDash val="solid"/>
            <a:round/>
          </a:ln>
        </p:spPr>
      </p:sp>
      <p:sp>
        <p:nvSpPr>
          <p:cNvPr id="6" name="Text box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8" name="Text box"/>
          <p:cNvSpPr>
            <a:spLocks noGrp="1"/>
          </p:cNvSpPr>
          <p:nvPr>
            <p:ph type="dt" idx="2"/>
          </p:nvPr>
        </p:nvSpPr>
        <p:spPr>
          <a:xfrm>
            <a:off x="3581399" y="6305550"/>
            <a:ext cx="2133599" cy="4762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 eaLnBrk="1" latinLnBrk="0" hangingPunct="1"/>
            <a:r>
              <a:rPr lang="en-US" altLang="zh-CN" sz="120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10/9/2025</a:t>
            </a:r>
            <a:endParaRPr lang="zh-CN" altLang="en-US" sz="120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9" name="Text box"/>
          <p:cNvSpPr>
            <a:spLocks noGrp="1"/>
          </p:cNvSpPr>
          <p:nvPr>
            <p:ph type="ft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eaLnBrk="1" latinLnBrk="0" hangingPunct="1"/>
            <a:r>
              <a:rPr lang="en-US" altLang="zh-CN" sz="120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PROSPECT OF 6G APPLICATION BASED ON 5G TECHNOLOGY</a:t>
            </a:r>
            <a:endParaRPr lang="zh-CN" altLang="en-US" sz="120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10" name="Text box"/>
          <p:cNvSpPr>
            <a:spLocks noGrp="1"/>
          </p:cNvSpPr>
          <p:nvPr>
            <p:ph type="sldNum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ctr" eaLnBrk="1" latinLnBrk="0" hangingPunct="1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‹#›</a:t>
            </a:fld>
            <a:endParaRPr lang="zh-CN" altLang="en-US" sz="120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11" name="Rectangle"/>
          <p:cNvSpPr>
            <a:spLocks/>
          </p:cNvSpPr>
          <p:nvPr/>
        </p:nvSpPr>
        <p:spPr>
          <a:xfrm>
            <a:off x="1014984" y="-54"/>
            <a:ext cx="73151" cy="6858054"/>
          </a:xfrm>
          <a:prstGeom prst="rect">
            <a:avLst/>
          </a:prstGeom>
          <a:solidFill>
            <a:schemeClr val="bg1"/>
          </a:solidFill>
          <a:ln w="25400" cap="rnd" cmpd="sng">
            <a:noFill/>
            <a:prstDash val="solid"/>
            <a:round/>
          </a:ln>
          <a:effectLst>
            <a:outerShdw blurRad="38550" dist="38000" dir="10800000" algn="tl" rotWithShape="0">
              <a:srgbClr val="600000">
                <a:alpha val="24705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1549204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lvl1pPr algn="l" defTabSz="914400" eaLnBrk="1" fontAlgn="auto" latinLnBrk="0" hangingPunct="1">
        <a:spcBef>
          <a:spcPts val="0"/>
        </a:spcBef>
        <a:buNone/>
        <a:defRPr sz="4300" kern="1200">
          <a:solidFill>
            <a:srgbClr val="572314"/>
          </a:solidFill>
          <a:effectLst>
            <a:outerShdw blurRad="50038" dist="30480" dir="5400000" algn="tl">
              <a:srgbClr val="000000">
                <a:alpha val="30000"/>
              </a:srgbClr>
            </a:outerShdw>
          </a:effectLst>
          <a:latin typeface="Gill Sans MT" charset="0"/>
          <a:ea typeface="华文中宋" charset="0"/>
          <a:cs typeface="Gill Sans MT" charset="0"/>
        </a:defRPr>
      </a:lvl1pPr>
    </p:titleStyle>
    <p:bodyStyle>
      <a:lvl1pPr marL="365633" indent="-283464" algn="l" defTabSz="914400" eaLnBrk="1" fontAlgn="auto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 charset="0"/>
        <a:buChar char=""/>
        <a:defRPr sz="3200" kern="1200">
          <a:solidFill>
            <a:schemeClr val="tx1"/>
          </a:solidFill>
          <a:latin typeface="Gill Sans MT" charset="0"/>
          <a:ea typeface="华文中宋" charset="0"/>
          <a:cs typeface="Gill Sans MT" charset="0"/>
        </a:defRPr>
      </a:lvl1pPr>
      <a:lvl2pPr marL="640080" indent="-237743" algn="l" defTabSz="914400" eaLnBrk="1" fontAlgn="auto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 charset="0"/>
        <a:buChar char="◦"/>
        <a:defRPr sz="2800" kern="1200">
          <a:solidFill>
            <a:schemeClr val="tx1"/>
          </a:solidFill>
          <a:latin typeface="Gill Sans MT" charset="0"/>
          <a:ea typeface="华文中宋" charset="0"/>
          <a:cs typeface="Gill Sans MT" charset="0"/>
        </a:defRPr>
      </a:lvl2pPr>
      <a:lvl3pPr marL="886841" indent="-228600" algn="l" defTabSz="914400" eaLnBrk="1" fontAlgn="auto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 charset="0"/>
        <a:buChar char=""/>
        <a:defRPr sz="2400" kern="1200">
          <a:solidFill>
            <a:schemeClr val="tx1"/>
          </a:solidFill>
          <a:latin typeface="Gill Sans MT" charset="0"/>
          <a:ea typeface="华文中宋" charset="0"/>
          <a:cs typeface="Gill Sans MT" charset="0"/>
        </a:defRPr>
      </a:lvl3pPr>
      <a:lvl4pPr marL="1097280" indent="-173736" algn="l" defTabSz="914400" eaLnBrk="1" fontAlgn="auto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 charset="0"/>
        <a:buChar char=""/>
        <a:defRPr sz="2000" kern="1200">
          <a:solidFill>
            <a:schemeClr val="tx1"/>
          </a:solidFill>
          <a:latin typeface="Gill Sans MT" charset="0"/>
          <a:ea typeface="华文中宋" charset="0"/>
          <a:cs typeface="Gill Sans MT" charset="0"/>
        </a:defRPr>
      </a:lvl4pPr>
      <a:lvl5pPr marL="1298321" indent="-182880" algn="l" defTabSz="914400" eaLnBrk="1" fontAlgn="auto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 charset="0"/>
        <a:buChar char=""/>
        <a:defRPr sz="2000" kern="1200">
          <a:solidFill>
            <a:schemeClr val="tx1"/>
          </a:solidFill>
          <a:latin typeface="Gill Sans MT" charset="0"/>
          <a:ea typeface="华文中宋" charset="0"/>
          <a:cs typeface="Gill Sans MT" charset="0"/>
        </a:defRPr>
      </a:lvl5pPr>
      <a:lvl6pPr marL="1508760" indent="-182880" algn="l" defTabSz="914400" eaLnBrk="1" fontAlgn="auto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charset="0"/>
        <a:buChar char=""/>
        <a:defRPr sz="2000" kern="1200">
          <a:solidFill>
            <a:schemeClr val="tx1"/>
          </a:solidFill>
          <a:latin typeface="Gill Sans MT" charset="0"/>
          <a:ea typeface="华文中宋" charset="0"/>
          <a:cs typeface="Gill Sans MT" charset="0"/>
        </a:defRPr>
      </a:lvl6pPr>
      <a:lvl7pPr marL="1719072" indent="-182880" algn="l" defTabSz="914400" eaLnBrk="1" fontAlgn="auto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charset="0"/>
        <a:buChar char=""/>
        <a:defRPr sz="2000" kern="1200">
          <a:solidFill>
            <a:schemeClr val="tx1"/>
          </a:solidFill>
          <a:latin typeface="Gill Sans MT" charset="0"/>
          <a:ea typeface="华文中宋" charset="0"/>
          <a:cs typeface="Gill Sans MT" charset="0"/>
        </a:defRPr>
      </a:lvl7pPr>
      <a:lvl8pPr marL="1920240" indent="-182880" algn="l" defTabSz="914400" eaLnBrk="1" fontAlgn="auto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charset="0"/>
        <a:buChar char=""/>
        <a:defRPr sz="2000" kern="1200">
          <a:solidFill>
            <a:schemeClr val="tx1"/>
          </a:solidFill>
          <a:latin typeface="Gill Sans MT" charset="0"/>
          <a:ea typeface="华文中宋" charset="0"/>
          <a:cs typeface="Gill Sans MT" charset="0"/>
        </a:defRPr>
      </a:lvl8pPr>
      <a:lvl9pPr marL="1920240" indent="-182880" algn="l" defTabSz="914400" eaLnBrk="1" fontAlgn="auto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charset="0"/>
        <a:buChar char=""/>
        <a:defRPr sz="2000" kern="1200">
          <a:solidFill>
            <a:schemeClr val="tx1"/>
          </a:solidFill>
          <a:latin typeface="Gill Sans MT" charset="0"/>
          <a:ea typeface="华文中宋" charset="0"/>
          <a:cs typeface="Gill Sans MT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box"/>
          <p:cNvSpPr>
            <a:spLocks noGrp="1"/>
          </p:cNvSpPr>
          <p:nvPr>
            <p:ph type="ctrTitle"/>
          </p:nvPr>
        </p:nvSpPr>
        <p:spPr>
          <a:xfrm>
            <a:off x="1027471" y="38100"/>
            <a:ext cx="778764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Image Enhancement Technique</a:t>
            </a:r>
            <a:endParaRPr lang="zh-CN" altLang="en-US" sz="3200" b="0" i="0" u="none" strike="noStrike" kern="1200" cap="none" spc="0" baseline="0" dirty="0">
              <a:solidFill>
                <a:schemeClr val="tx1"/>
              </a:solidFill>
              <a:latin typeface="Gill Sans MT" charset="0"/>
              <a:ea typeface="华文中宋" charset="0"/>
              <a:cs typeface="Lucida Sans"/>
            </a:endParaRPr>
          </a:p>
        </p:txBody>
      </p:sp>
      <p:sp>
        <p:nvSpPr>
          <p:cNvPr id="31" name="Text box"/>
          <p:cNvSpPr>
            <a:spLocks noGrp="1"/>
          </p:cNvSpPr>
          <p:nvPr>
            <p:ph type="subTitle" idx="1"/>
          </p:nvPr>
        </p:nvSpPr>
        <p:spPr>
          <a:xfrm>
            <a:off x="1027471" y="3356990"/>
            <a:ext cx="7937139" cy="350101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27432" indent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1400" b="0" i="0" u="none" strike="noStrike" kern="1200" cap="none" spc="0" baseline="0" dirty="0">
              <a:solidFill>
                <a:srgbClr val="320E04"/>
              </a:solidFill>
              <a:latin typeface="Aparajita" pitchFamily="34" charset="0"/>
              <a:ea typeface="华文中宋" charset="0"/>
              <a:cs typeface="Aparajita" pitchFamily="34" charset="0"/>
            </a:endParaRPr>
          </a:p>
          <a:p>
            <a:pPr marL="27432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rgbClr val="320E04"/>
                </a:solidFill>
                <a:latin typeface="Aparajita" pitchFamily="34" charset="0"/>
                <a:ea typeface="华文中宋" charset="0"/>
                <a:cs typeface="Aparajita" pitchFamily="34" charset="0"/>
              </a:rPr>
              <a:t> </a:t>
            </a:r>
          </a:p>
          <a:p>
            <a:pPr marL="27432" indent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1400" b="0" i="0" u="none" strike="noStrike" kern="1200" cap="none" spc="0" baseline="0" dirty="0">
              <a:solidFill>
                <a:schemeClr val="tx1"/>
              </a:solidFill>
              <a:latin typeface="Aparajita" pitchFamily="34" charset="0"/>
              <a:ea typeface="华文中宋" charset="0"/>
              <a:cs typeface="Aparajita" pitchFamily="34" charset="0"/>
            </a:endParaRPr>
          </a:p>
          <a:p>
            <a:pPr marL="27432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 dirty="0">
                <a:solidFill>
                  <a:schemeClr val="tx1"/>
                </a:solidFill>
                <a:latin typeface="Aparajita" pitchFamily="34" charset="0"/>
                <a:ea typeface="华文中宋" charset="0"/>
                <a:cs typeface="Aparajita" pitchFamily="34" charset="0"/>
              </a:rPr>
              <a:t>                                                                        </a:t>
            </a:r>
          </a:p>
          <a:p>
            <a:pPr marL="27432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13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华文中宋" charset="0"/>
              <a:cs typeface="Times New Roman" pitchFamily="18" charset="0"/>
            </a:endParaRPr>
          </a:p>
          <a:p>
            <a:pPr marL="27432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1300" b="1" i="0" u="none" strike="noStrike" kern="1200" cap="none" spc="0" baseline="0" dirty="0">
              <a:solidFill>
                <a:srgbClr val="002060"/>
              </a:solidFill>
              <a:latin typeface="Times New Roman" pitchFamily="18" charset="0"/>
              <a:ea typeface="华文中宋" charset="0"/>
              <a:cs typeface="Times New Roman" pitchFamily="18" charset="0"/>
            </a:endParaRPr>
          </a:p>
          <a:p>
            <a:pPr marL="27432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1600" b="1" i="0" u="none" strike="noStrike" kern="1200" cap="none" spc="0" baseline="0" dirty="0">
              <a:solidFill>
                <a:srgbClr val="002060"/>
              </a:solidFill>
              <a:latin typeface="Times New Roman" pitchFamily="18" charset="0"/>
              <a:ea typeface="华文中宋" charset="0"/>
              <a:cs typeface="Times New Roman" pitchFamily="18" charset="0"/>
            </a:endParaRPr>
          </a:p>
          <a:p>
            <a:pPr marL="27432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1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1600" b="1" i="0" u="none" strike="noStrike" kern="1200" cap="none" spc="0" baseline="0" dirty="0">
              <a:solidFill>
                <a:srgbClr val="002060"/>
              </a:solidFill>
              <a:latin typeface="Times New Roman" pitchFamily="18" charset="0"/>
              <a:ea typeface="华文中宋" charset="0"/>
              <a:cs typeface="Times New Roman" pitchFamily="18" charset="0"/>
            </a:endParaRPr>
          </a:p>
          <a:p>
            <a:pPr marL="27432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1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 dirty="0">
                <a:solidFill>
                  <a:srgbClr val="002060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DEPARTMENT OF ELECTRONICS AND TELECOMMUNICATION ENGINEERING</a:t>
            </a:r>
          </a:p>
          <a:p>
            <a:pPr marL="27432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 dirty="0">
                <a:solidFill>
                  <a:srgbClr val="002060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TRIDENT ACADEMY OF TECHNOLOGY,BHUBANESWA</a:t>
            </a:r>
            <a:r>
              <a:rPr lang="en-US" altLang="zh-CN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endParaRPr lang="en-US" altLang="zh-CN" sz="1600" b="1" i="0" u="none" strike="noStrike" kern="1200" cap="none" spc="0" baseline="0" dirty="0">
              <a:solidFill>
                <a:srgbClr val="002060"/>
              </a:solidFill>
              <a:latin typeface="Times New Roman" pitchFamily="18" charset="0"/>
              <a:ea typeface="华文中宋" charset="0"/>
              <a:cs typeface="Times New Roman" pitchFamily="18" charset="0"/>
            </a:endParaRPr>
          </a:p>
          <a:p>
            <a:pPr marL="27432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1300" b="1" i="0" u="none" strike="noStrike" kern="1200" cap="none" spc="0" baseline="0" dirty="0">
              <a:solidFill>
                <a:srgbClr val="002060"/>
              </a:solidFill>
              <a:latin typeface="Times New Roman" pitchFamily="18" charset="0"/>
              <a:ea typeface="华文中宋" charset="0"/>
              <a:cs typeface="Times New Roman" pitchFamily="18" charset="0"/>
            </a:endParaRPr>
          </a:p>
          <a:p>
            <a:pPr marL="27432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1100" b="0" i="0" u="none" strike="noStrike" kern="1200" cap="none" spc="0" baseline="0" dirty="0">
              <a:solidFill>
                <a:schemeClr val="tx1"/>
              </a:solidFill>
              <a:latin typeface="Aparajita" pitchFamily="34" charset="0"/>
              <a:ea typeface="华文中宋" charset="0"/>
              <a:cs typeface="Aparajita" pitchFamily="34" charset="0"/>
            </a:endParaRPr>
          </a:p>
          <a:p>
            <a:pPr marL="27432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 dirty="0">
                <a:solidFill>
                  <a:schemeClr val="tx1"/>
                </a:solidFill>
                <a:latin typeface="Aparajita" pitchFamily="34" charset="0"/>
                <a:ea typeface="华文中宋" charset="0"/>
                <a:cs typeface="Aparajita" pitchFamily="34" charset="0"/>
              </a:rPr>
              <a:t>                                       </a:t>
            </a:r>
          </a:p>
          <a:p>
            <a:pPr marL="27432" indent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                                         </a:t>
            </a:r>
            <a:r>
              <a:rPr lang="en-US" altLang="zh-CN" sz="2000" b="1" i="0" u="none" strike="noStrike" kern="1200" cap="none" spc="0" baseline="0" dirty="0">
                <a:solidFill>
                  <a:srgbClr val="7030A0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Presented by</a:t>
            </a:r>
          </a:p>
          <a:p>
            <a:pPr marL="4175125" indent="-2117725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 dirty="0">
                <a:solidFill>
                  <a:srgbClr val="7030A0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                                      </a:t>
            </a:r>
          </a:p>
          <a:p>
            <a:pPr marL="4175125" indent="-2117725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 dirty="0">
                <a:solidFill>
                  <a:srgbClr val="7030A0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                                   </a:t>
            </a:r>
            <a:r>
              <a:rPr lang="en-US" altLang="zh-CN" sz="1800" b="0" i="1" u="none" strike="noStrike" kern="1200" cap="none" spc="0" baseline="0" dirty="0">
                <a:solidFill>
                  <a:srgbClr val="7030A0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Name – S</a:t>
            </a:r>
            <a:r>
              <a:rPr lang="en-US" altLang="zh-CN" sz="1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oubhagya Ranjan Sukla</a:t>
            </a:r>
            <a:r>
              <a:rPr lang="en-US" altLang="zh-CN" sz="1800" b="0" i="1" u="none" strike="noStrike" kern="1200" cap="none" spc="0" baseline="0" dirty="0">
                <a:solidFill>
                  <a:srgbClr val="7030A0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                                                                 </a:t>
            </a:r>
          </a:p>
          <a:p>
            <a:pPr marL="4175125" indent="-2117725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800" b="0" i="1" u="none" strike="noStrike" kern="1200" cap="none" spc="0" baseline="0" dirty="0">
                <a:solidFill>
                  <a:srgbClr val="7030A0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                                       Branch - ETC                  </a:t>
            </a:r>
          </a:p>
          <a:p>
            <a:pPr marL="4175125" indent="-2117725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800" b="0" i="1" u="none" strike="noStrike" kern="1200" cap="none" spc="0" baseline="0" dirty="0">
                <a:solidFill>
                  <a:srgbClr val="7030A0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                                       Semester - 5</a:t>
            </a:r>
            <a:r>
              <a:rPr lang="en-US" altLang="zh-CN" sz="1800" b="0" i="1" u="none" strike="noStrike" kern="1200" cap="none" spc="0" baseline="30000" dirty="0">
                <a:solidFill>
                  <a:srgbClr val="7030A0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th</a:t>
            </a:r>
            <a:r>
              <a:rPr lang="en-US" altLang="zh-CN" sz="1800" b="0" i="1" u="none" strike="noStrike" kern="1200" cap="none" spc="0" baseline="0" dirty="0">
                <a:solidFill>
                  <a:srgbClr val="7030A0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 </a:t>
            </a:r>
          </a:p>
          <a:p>
            <a:pPr marL="5202174" indent="-5202174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800" b="0" i="1" u="none" strike="noStrike" kern="1200" cap="none" spc="0" baseline="0" dirty="0">
                <a:solidFill>
                  <a:srgbClr val="7030A0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                                                               </a:t>
            </a:r>
            <a:r>
              <a:rPr lang="en-US" altLang="zh-CN" sz="1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altLang="zh-CN" sz="1800" b="0" i="1" u="none" strike="noStrike" kern="1200" cap="none" spc="0" baseline="0" dirty="0">
                <a:solidFill>
                  <a:srgbClr val="7030A0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Regd. No – 2301289570</a:t>
            </a:r>
          </a:p>
          <a:p>
            <a:pPr marL="5202174" indent="-5202174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1800" b="0" i="1" u="none" strike="noStrike" kern="1200" cap="none" spc="0" baseline="0" dirty="0">
              <a:solidFill>
                <a:srgbClr val="7030A0"/>
              </a:solidFill>
              <a:latin typeface="Times New Roman" pitchFamily="18" charset="0"/>
              <a:ea typeface="华文中宋" charset="0"/>
              <a:cs typeface="Times New Roman" pitchFamily="18" charset="0"/>
            </a:endParaRPr>
          </a:p>
          <a:p>
            <a:pPr marL="5202174" indent="-5202174">
              <a:lnSpc>
                <a:spcPct val="80000"/>
              </a:lnSpc>
              <a:buNone/>
            </a:pPr>
            <a:endParaRPr lang="zh-CN" altLang="en-US" sz="1800" b="0" i="0" u="none" strike="noStrike" kern="1200" cap="none" spc="0" baseline="0" dirty="0">
              <a:solidFill>
                <a:srgbClr val="320E04"/>
              </a:solidFill>
              <a:latin typeface="Aparajita" pitchFamily="34" charset="0"/>
              <a:ea typeface="华文中宋" charset="0"/>
              <a:cs typeface="Aparajita" pitchFamily="34" charset="0"/>
            </a:endParaRPr>
          </a:p>
        </p:txBody>
      </p:sp>
      <p:pic>
        <p:nvPicPr>
          <p:cNvPr id="32" name="Image" descr="G:\tatlogo.jpg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79890" y="1188960"/>
            <a:ext cx="1905000" cy="1905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881034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box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914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sng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Contents</a:t>
            </a:r>
            <a:endParaRPr lang="zh-CN" altLang="en-US" sz="3600" b="1" i="0" u="sng" strike="noStrike" kern="1200" cap="none" spc="0" baseline="0" dirty="0">
              <a:solidFill>
                <a:schemeClr val="tx1"/>
              </a:solidFill>
              <a:latin typeface="Gill Sans MT" charset="0"/>
              <a:ea typeface="华文中宋" charset="0"/>
              <a:cs typeface="Lucida Sans"/>
            </a:endParaRPr>
          </a:p>
        </p:txBody>
      </p:sp>
      <p:sp>
        <p:nvSpPr>
          <p:cNvPr id="44" name="Text box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65633" indent="-28346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Introduction</a:t>
            </a:r>
          </a:p>
          <a:p>
            <a:pPr marL="365633" indent="-28346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Ø"/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altLang="zh-CN" sz="20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华文中宋" charset="0"/>
              <a:cs typeface="Times New Roman" pitchFamily="18" charset="0"/>
            </a:endParaRPr>
          </a:p>
          <a:p>
            <a:pPr marL="365633" indent="-28346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Ø"/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Image enhancement technique</a:t>
            </a:r>
            <a:endParaRPr lang="en-US" altLang="zh-CN" sz="24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华文中宋" charset="0"/>
              <a:cs typeface="Times New Roman" pitchFamily="18" charset="0"/>
            </a:endParaRPr>
          </a:p>
          <a:p>
            <a:pPr marL="365633" indent="-28346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Application 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across industries</a:t>
            </a:r>
            <a:endParaRPr lang="en-US" altLang="zh-CN" sz="24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华文中宋" charset="0"/>
              <a:cs typeface="Times New Roman" pitchFamily="18" charset="0"/>
            </a:endParaRPr>
          </a:p>
          <a:p>
            <a:pPr marL="365633" indent="-28346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Conclusion</a:t>
            </a:r>
          </a:p>
          <a:p>
            <a:pPr marL="365633" indent="-28346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References</a:t>
            </a:r>
          </a:p>
          <a:p>
            <a:pPr marL="365633" indent="-28346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zh-CN" altLang="en-US" sz="3200" b="0" i="0" u="none" strike="noStrike" kern="1200" cap="none" spc="0" baseline="0" dirty="0">
              <a:solidFill>
                <a:schemeClr val="tx1"/>
              </a:solidFill>
              <a:latin typeface="Gill Sans MT" charset="0"/>
              <a:ea typeface="华文中宋" charset="0"/>
              <a:cs typeface="Lucida Sans"/>
            </a:endParaRPr>
          </a:p>
        </p:txBody>
      </p:sp>
      <p:sp>
        <p:nvSpPr>
          <p:cNvPr id="47" name="Text box"/>
          <p:cNvSpPr>
            <a:spLocks noGrp="1"/>
          </p:cNvSpPr>
          <p:nvPr>
            <p:ph type="sldNum" idx="12"/>
          </p:nvPr>
        </p:nvSpPr>
        <p:spPr>
          <a:xfrm>
            <a:off x="1115520" y="6305550"/>
            <a:ext cx="7921100" cy="47625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zh-CN" sz="1200" b="0" i="0" u="none" strike="noStrike" kern="1200" cap="none" spc="0" baseline="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13/10/2025                                                                    Image Enhancement Techniques                                                 2</a:t>
            </a:r>
            <a:endParaRPr lang="zh-CN" altLang="en-US" sz="1200" b="0" i="0" u="none" strike="noStrike" kern="1200" cap="none" spc="0" baseline="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68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box"/>
          <p:cNvSpPr>
            <a:spLocks noGrp="1"/>
          </p:cNvSpPr>
          <p:nvPr>
            <p:ph type="ctrTitle"/>
          </p:nvPr>
        </p:nvSpPr>
        <p:spPr>
          <a:xfrm>
            <a:off x="1187530" y="-603559"/>
            <a:ext cx="7651669" cy="2435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sng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Introduction</a:t>
            </a:r>
            <a:endParaRPr lang="zh-CN" altLang="en-US" sz="3600" b="1" i="0" u="sng" strike="noStrike" kern="1200" cap="none" spc="0" baseline="0" dirty="0">
              <a:solidFill>
                <a:schemeClr val="tx1"/>
              </a:solidFill>
              <a:latin typeface="Gill Sans MT" charset="0"/>
              <a:ea typeface="华文中宋" charset="0"/>
              <a:cs typeface="Lucida Sans"/>
            </a:endParaRPr>
          </a:p>
        </p:txBody>
      </p:sp>
      <p:sp>
        <p:nvSpPr>
          <p:cNvPr id="49" name="Text box"/>
          <p:cNvSpPr>
            <a:spLocks noGrp="1"/>
          </p:cNvSpPr>
          <p:nvPr>
            <p:ph type="subTitle" idx="1"/>
          </p:nvPr>
        </p:nvSpPr>
        <p:spPr>
          <a:xfrm>
            <a:off x="1432560" y="4077090"/>
            <a:ext cx="7406639" cy="165622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sz="2400" dirty="0"/>
              <a:t>There are two main approaches to image enhancement:</a:t>
            </a:r>
          </a:p>
          <a:p>
            <a:r>
              <a:rPr lang="en-US" sz="2400" b="1" dirty="0"/>
              <a:t>Spatial Domain Techniques:</a:t>
            </a:r>
            <a:r>
              <a:rPr lang="en-US" sz="2400" dirty="0"/>
              <a:t> Operate directly on image pixels (e.g., contrast adjustment, smoothing, sharpening).</a:t>
            </a:r>
          </a:p>
          <a:p>
            <a:r>
              <a:rPr lang="en-US" sz="2400" b="1" dirty="0"/>
              <a:t>Frequency Domain Techniques:</a:t>
            </a:r>
            <a:r>
              <a:rPr lang="en-US" sz="2400" dirty="0"/>
              <a:t> Modify the frequency components of the image using transforms (e.g., Fourier Transform).</a:t>
            </a:r>
          </a:p>
          <a:p>
            <a:pPr marL="82296" indent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华文中宋" charset="0"/>
              <a:cs typeface="Times New Roman" pitchFamily="18" charset="0"/>
            </a:endParaRPr>
          </a:p>
          <a:p>
            <a:pPr marL="82296" indent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华文中宋" charset="0"/>
              <a:cs typeface="Times New Roman" pitchFamily="18" charset="0"/>
            </a:endParaRPr>
          </a:p>
          <a:p>
            <a:pPr marL="82296" indent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华文中宋" charset="0"/>
              <a:cs typeface="Times New Roman" pitchFamily="18" charset="0"/>
            </a:endParaRPr>
          </a:p>
          <a:p>
            <a:pPr marL="365633" indent="-283464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华文中宋" charset="0"/>
                <a:cs typeface="Times New Roman" pitchFamily="18" charset="0"/>
              </a:rPr>
              <a:t>    </a:t>
            </a:r>
          </a:p>
          <a:p>
            <a:pPr marL="365633" indent="-283464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Ø"/>
            </a:pPr>
            <a:endParaRPr lang="zh-CN" altLang="en-US" sz="800" b="0" i="0" u="none" strike="noStrike" kern="1200" cap="none" spc="0" baseline="0" dirty="0">
              <a:solidFill>
                <a:schemeClr val="tx1"/>
              </a:solidFill>
              <a:latin typeface="Gill Sans MT" charset="0"/>
              <a:ea typeface="华文中宋" charset="0"/>
              <a:cs typeface="Lucida Sans"/>
            </a:endParaRPr>
          </a:p>
        </p:txBody>
      </p:sp>
      <p:sp>
        <p:nvSpPr>
          <p:cNvPr id="50" name="Text box"/>
          <p:cNvSpPr>
            <a:spLocks noGrp="1"/>
          </p:cNvSpPr>
          <p:nvPr>
            <p:ph type="dt" idx="10"/>
          </p:nvPr>
        </p:nvSpPr>
        <p:spPr>
          <a:xfrm>
            <a:off x="1331550" y="6340520"/>
            <a:ext cx="7561050" cy="4762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13/9/2025                                              </a:t>
            </a:r>
            <a:r>
              <a:rPr lang="en-US" altLang="zh-CN" sz="120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Image Enhancement Technique                                   </a:t>
            </a:r>
            <a:r>
              <a:rPr lang="en-US" altLang="zh-CN" sz="1200" b="0" i="0" u="none" strike="noStrike" kern="1200" cap="none" spc="0" baseline="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                               3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zh-CN" altLang="en-US" sz="1200" b="0" i="0" u="none" strike="noStrike" kern="1200" cap="none" spc="0" baseline="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318B65-8756-B6A2-D95E-E599E3B35BD8}"/>
              </a:ext>
            </a:extLst>
          </p:cNvPr>
          <p:cNvSpPr txBox="1"/>
          <p:nvPr/>
        </p:nvSpPr>
        <p:spPr>
          <a:xfrm>
            <a:off x="1619590" y="1268700"/>
            <a:ext cx="71289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Image enhancement is a process used to improve the visual quality of an image by adjusting brightness, contrast, and sharpness. It helps highlight important details and make images clearer for better viewing or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29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B02D0-C69C-F86F-311F-B386EA46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Objectives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6D6A9-C11B-671B-D315-7061E1CDA34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331551" y="6305550"/>
            <a:ext cx="936129" cy="476250"/>
          </a:xfrm>
        </p:spPr>
        <p:txBody>
          <a:bodyPr/>
          <a:lstStyle/>
          <a:p>
            <a:pPr algn="r" eaLnBrk="1" latinLnBrk="0" hangingPunct="1"/>
            <a:r>
              <a:rPr lang="en-US" altLang="zh-CN" sz="120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13/9/2025</a:t>
            </a:r>
            <a:endParaRPr lang="zh-CN" altLang="en-US" sz="120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1F8AE-551C-69F8-C09A-268DD6BF4C9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851900" y="6278562"/>
            <a:ext cx="5478800" cy="476250"/>
          </a:xfrm>
        </p:spPr>
        <p:txBody>
          <a:bodyPr/>
          <a:lstStyle/>
          <a:p>
            <a:pPr eaLnBrk="1" latinLnBrk="0" hangingPunct="1"/>
            <a:r>
              <a:rPr lang="en-US" altLang="zh-CN" sz="120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Image Enhancement Techniques                                                                    4</a:t>
            </a:r>
            <a:endParaRPr lang="zh-CN" altLang="en-US" sz="120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E541C5A-C7CA-5E4B-9EC1-6EFF8857CB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31551" y="1833136"/>
            <a:ext cx="721003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rt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-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Visual Quality: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       Make the image look better or easier to understand.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rt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Highlight Important Features: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      Show important shapes, edges, or patterns clearly.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rt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Increase Contrast: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      Make dark and light areas easier to see.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Noise Reduction:</a:t>
            </a:r>
          </a:p>
          <a:p>
            <a:pPr marL="0" lvl="0" indent="0" rt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       Remove unwanted spots or distortions. </a:t>
            </a:r>
          </a:p>
          <a:p>
            <a:pPr marL="0" lvl="0" indent="0" rt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- Facilitate Further Processing:</a:t>
            </a:r>
          </a:p>
          <a:p>
            <a:pPr marL="0" lvl="0" indent="0" rt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      Prepare the image for other tasks like detection or analysis. 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-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Image Details: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To reveal fine structures in scientific or medical imaging.</a:t>
            </a:r>
          </a:p>
        </p:txBody>
      </p:sp>
    </p:spTree>
    <p:extLst>
      <p:ext uri="{BB962C8B-B14F-4D97-AF65-F5344CB8AC3E}">
        <p14:creationId xmlns:p14="http://schemas.microsoft.com/office/powerpoint/2010/main" val="2791108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box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br>
              <a:rPr lang="en-US" altLang="zh-CN" sz="3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zh-CN" altLang="en-US" sz="3600" b="1" i="0" u="sng" strike="noStrike" kern="1200" cap="none" spc="0" baseline="0" dirty="0">
              <a:solidFill>
                <a:schemeClr val="tx1"/>
              </a:solidFill>
              <a:latin typeface="Gill Sans MT" charset="0"/>
              <a:ea typeface="华文中宋" charset="0"/>
              <a:cs typeface="Lucida Sans"/>
            </a:endParaRPr>
          </a:p>
        </p:txBody>
      </p:sp>
      <p:sp>
        <p:nvSpPr>
          <p:cNvPr id="54" name="Text box"/>
          <p:cNvSpPr>
            <a:spLocks noGrp="1"/>
          </p:cNvSpPr>
          <p:nvPr>
            <p:ph type="dt" sz="half" idx="10"/>
          </p:nvPr>
        </p:nvSpPr>
        <p:spPr>
          <a:xfrm>
            <a:off x="1115520" y="6477000"/>
            <a:ext cx="5832810" cy="3427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 13/9/2025                                                                       Image Enhancement Techniques   </a:t>
            </a:r>
            <a:endParaRPr lang="zh-CN" altLang="en-US" sz="1200" b="0" i="0" u="none" strike="noStrike" kern="1200" cap="none" spc="0" baseline="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56" name="Text box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5</a:t>
            </a:fld>
            <a:endParaRPr lang="zh-CN" altLang="en-US" sz="1200" b="0" i="0" u="none" strike="noStrike" kern="1200" cap="none" spc="0" baseline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pic>
        <p:nvPicPr>
          <p:cNvPr id="1028" name="Picture 4" descr="Generated image">
            <a:extLst>
              <a:ext uri="{FF2B5EF4-FFF2-40B4-BE49-F238E27FC236}">
                <a16:creationId xmlns:a16="http://schemas.microsoft.com/office/drawing/2014/main" id="{D4257C11-E2B9-7EA0-C751-4582B232A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758" y="281809"/>
            <a:ext cx="7849090" cy="56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2499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box"/>
          <p:cNvSpPr>
            <a:spLocks noGrp="1"/>
          </p:cNvSpPr>
          <p:nvPr>
            <p:ph type="dt" sz="half" idx="10"/>
          </p:nvPr>
        </p:nvSpPr>
        <p:spPr>
          <a:xfrm>
            <a:off x="1259541" y="6453420"/>
            <a:ext cx="864119" cy="3283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13/9/2025</a:t>
            </a:r>
            <a:endParaRPr lang="zh-CN" altLang="en-US" sz="1200" b="0" i="0" u="none" strike="noStrike" kern="1200" cap="none" spc="0" baseline="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63" name="Text box"/>
          <p:cNvSpPr>
            <a:spLocks noGrp="1"/>
          </p:cNvSpPr>
          <p:nvPr>
            <p:ph type="ftr" sz="quarter" idx="11"/>
          </p:nvPr>
        </p:nvSpPr>
        <p:spPr>
          <a:xfrm>
            <a:off x="3779890" y="6453420"/>
            <a:ext cx="3096430" cy="3283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zh-CN" sz="1200" b="0" i="0" u="none" strike="noStrike" kern="1200" cap="none" spc="0" baseline="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Image Enhancement techniques</a:t>
            </a:r>
            <a:endParaRPr lang="zh-CN" altLang="en-US" sz="1200" b="0" i="0" u="none" strike="noStrike" kern="1200" cap="none" spc="0" baseline="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64" name="Text box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6</a:t>
            </a:fld>
            <a:endParaRPr lang="zh-CN" altLang="en-US" sz="1200" b="0" i="0" u="none" strike="noStrike" kern="1200" cap="none" spc="0" baseline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3A7B9CF5-2AFA-55D5-C44E-C30954DECCA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259540" y="476590"/>
                <a:ext cx="7354108" cy="5544770"/>
              </a:xfrm>
            </p:spPr>
            <p:txBody>
              <a:bodyPr/>
              <a:lstStyle/>
              <a:p>
                <a:endParaRPr lang="en-IN" b="1" dirty="0"/>
              </a:p>
              <a:p>
                <a:r>
                  <a:rPr lang="en-IN" b="1" dirty="0"/>
                  <a:t>A. Special Domain Techniques</a:t>
                </a:r>
              </a:p>
              <a:p>
                <a:endParaRPr lang="en-IN" b="1" dirty="0"/>
              </a:p>
              <a:p>
                <a:r>
                  <a:rPr lang="en-IN" b="1" dirty="0"/>
                  <a:t>1.Gray Level Transformation</a:t>
                </a:r>
                <a:endParaRPr lang="en-IN" dirty="0"/>
              </a:p>
              <a:p>
                <a:pPr lvl="1"/>
                <a:r>
                  <a:rPr lang="en-IN" b="1" dirty="0"/>
                  <a:t>- Linear Transformations:</a:t>
                </a:r>
                <a:r>
                  <a:rPr lang="en-IN" dirty="0"/>
                  <a:t> Adjust brightness and contrast.</a:t>
                </a:r>
                <a:br>
                  <a:rPr lang="en-IN" dirty="0"/>
                </a:br>
                <a:r>
                  <a:rPr lang="en-IN" dirty="0"/>
                  <a:t>            Example: Image Negation –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−1−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IN" dirty="0"/>
                  <a:t> where </a:t>
                </a:r>
                <a:r>
                  <a:rPr lang="en-IN" i="1" dirty="0"/>
                  <a:t>r</a:t>
                </a:r>
                <a:r>
                  <a:rPr lang="en-IN" dirty="0"/>
                  <a:t> is input and </a:t>
                </a:r>
                <a:r>
                  <a:rPr lang="en-IN" i="1" dirty="0"/>
                  <a:t>s</a:t>
                </a:r>
                <a:r>
                  <a:rPr lang="en-IN" dirty="0"/>
                  <a:t> is output intensity.</a:t>
                </a:r>
              </a:p>
              <a:p>
                <a:pPr lvl="1"/>
                <a:r>
                  <a:rPr lang="en-IN" b="1" dirty="0"/>
                  <a:t>- Logarithmic Transformation:</a:t>
                </a:r>
                <a:r>
                  <a:rPr lang="en-IN" dirty="0"/>
                  <a:t> Expands dark regions and compresses bright regions.</a:t>
                </a:r>
              </a:p>
              <a:p>
                <a:pPr lvl="1"/>
                <a:r>
                  <a:rPr lang="en-IN" b="1" dirty="0"/>
                  <a:t>- Power-Law  Transformation:</a:t>
                </a:r>
                <a:r>
                  <a:rPr lang="en-IN" dirty="0"/>
                  <a:t> Adjusts overall brightness depending on the gamma value.</a:t>
                </a:r>
              </a:p>
              <a:p>
                <a:r>
                  <a:rPr lang="en-IN" b="1" dirty="0"/>
                  <a:t>2.Histogram Processing</a:t>
                </a:r>
              </a:p>
              <a:p>
                <a:r>
                  <a:rPr lang="en-IN" b="1" dirty="0"/>
                  <a:t>     Basic for numerous spatial domain processing techniques. Used  image effectively enhancement</a:t>
                </a:r>
                <a:endParaRPr lang="en-IN" dirty="0"/>
              </a:p>
              <a:p>
                <a:pPr lvl="1"/>
                <a:r>
                  <a:rPr lang="en-IN" b="1" dirty="0"/>
                  <a:t>- Histogram Equalization:</a:t>
                </a:r>
                <a:r>
                  <a:rPr lang="en-IN" dirty="0"/>
                  <a:t> Improves contrast by redistributing pixel intensity levels.</a:t>
                </a:r>
              </a:p>
              <a:p>
                <a:pPr lvl="1"/>
                <a:r>
                  <a:rPr lang="en-IN" b="1" dirty="0"/>
                  <a:t>- Histogram Specification:</a:t>
                </a:r>
                <a:r>
                  <a:rPr lang="en-IN" dirty="0"/>
                  <a:t> Matches the histogram of an image to a desired shape.</a:t>
                </a:r>
              </a:p>
              <a:p>
                <a:r>
                  <a:rPr lang="en-IN" b="1" dirty="0"/>
                  <a:t>3.Smoothing (Low-Pass Filtering)</a:t>
                </a:r>
                <a:endParaRPr lang="en-IN" dirty="0"/>
              </a:p>
              <a:p>
                <a:pPr lvl="1"/>
                <a:r>
                  <a:rPr lang="en-IN" dirty="0"/>
                  <a:t>- Reduces noise and blurs edges.</a:t>
                </a:r>
              </a:p>
              <a:p>
                <a:pPr lvl="1"/>
                <a:r>
                  <a:rPr lang="en-IN" dirty="0"/>
                  <a:t>- Uses averaging filters or Gaussian filters.</a:t>
                </a:r>
              </a:p>
              <a:p>
                <a:r>
                  <a:rPr lang="en-IN" b="1" dirty="0"/>
                  <a:t>4.Sharpening (High-Pass Filtering)</a:t>
                </a:r>
                <a:endParaRPr lang="en-IN" dirty="0"/>
              </a:p>
              <a:p>
                <a:pPr lvl="1"/>
                <a:r>
                  <a:rPr lang="en-IN" dirty="0"/>
                  <a:t>- Enhances edges and fine details.</a:t>
                </a:r>
              </a:p>
              <a:p>
                <a:pPr lvl="1"/>
                <a:r>
                  <a:rPr lang="en-IN" dirty="0"/>
                  <a:t>- Techniques: Laplacian filter, Gradient operators (Sobel, Prewitt).</a:t>
                </a:r>
              </a:p>
              <a:p>
                <a:r>
                  <a:rPr lang="en-IN" b="1" dirty="0"/>
                  <a:t>5.Median Filtering</a:t>
                </a:r>
                <a:endParaRPr lang="en-IN" dirty="0"/>
              </a:p>
              <a:p>
                <a:pPr lvl="1"/>
                <a:r>
                  <a:rPr lang="en-IN" dirty="0"/>
                  <a:t>Removes impulsive (“salt and pepper”) noise while preserving edges.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3A7B9CF5-2AFA-55D5-C44E-C30954DECC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259540" y="476590"/>
                <a:ext cx="7354108" cy="5544770"/>
              </a:xfrm>
              <a:blipFill>
                <a:blip r:embed="rId3"/>
                <a:stretch>
                  <a:fillRect l="-249" b="-19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box">
            <a:extLst>
              <a:ext uri="{FF2B5EF4-FFF2-40B4-BE49-F238E27FC236}">
                <a16:creationId xmlns:a16="http://schemas.microsoft.com/office/drawing/2014/main" id="{5E1D9DAC-CEAE-CB82-7887-A6A371F7F60F}"/>
              </a:ext>
            </a:extLst>
          </p:cNvPr>
          <p:cNvSpPr txBox="1">
            <a:spLocks/>
          </p:cNvSpPr>
          <p:nvPr/>
        </p:nvSpPr>
        <p:spPr>
          <a:xfrm>
            <a:off x="1284940" y="6453420"/>
            <a:ext cx="864119" cy="3283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defPPr>
              <a:defRPr lang="zh-CN"/>
            </a:defPPr>
            <a:lvl1pPr marL="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1pPr>
            <a:lvl2pPr marL="4572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2pPr>
            <a:lvl3pPr marL="9144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3pPr>
            <a:lvl4pPr marL="13716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4pPr>
            <a:lvl5pPr marL="18288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5pPr>
            <a:lvl6pPr marL="22860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6pPr>
            <a:lvl7pPr marL="27432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7pPr>
            <a:lvl8pPr marL="32004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8pPr>
            <a:lvl9pPr marL="32004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9pPr>
          </a:lstStyle>
          <a:p>
            <a:pPr algn="r"/>
            <a:endParaRPr lang="zh-CN" altLang="en-US" sz="120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3" name="Text box">
            <a:extLst>
              <a:ext uri="{FF2B5EF4-FFF2-40B4-BE49-F238E27FC236}">
                <a16:creationId xmlns:a16="http://schemas.microsoft.com/office/drawing/2014/main" id="{ACEFDACC-1981-00BE-D0DE-FE63EE6F1591}"/>
              </a:ext>
            </a:extLst>
          </p:cNvPr>
          <p:cNvSpPr txBox="1">
            <a:spLocks/>
          </p:cNvSpPr>
          <p:nvPr/>
        </p:nvSpPr>
        <p:spPr>
          <a:xfrm>
            <a:off x="3805289" y="6453420"/>
            <a:ext cx="3096430" cy="3283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defPPr>
              <a:defRPr lang="zh-CN"/>
            </a:defPPr>
            <a:lvl1pPr marL="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1pPr>
            <a:lvl2pPr marL="4572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2pPr>
            <a:lvl3pPr marL="9144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3pPr>
            <a:lvl4pPr marL="13716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4pPr>
            <a:lvl5pPr marL="18288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5pPr>
            <a:lvl6pPr marL="22860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6pPr>
            <a:lvl7pPr marL="27432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7pPr>
            <a:lvl8pPr marL="32004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8pPr>
            <a:lvl9pPr marL="32004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9pPr>
          </a:lstStyle>
          <a:p>
            <a:endParaRPr lang="zh-CN" altLang="en-US" sz="120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054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box" descr="Click to edit Master title style&#10;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 sz="3700" dirty="0">
                <a:solidFill>
                  <a:srgbClr val="000000"/>
                </a:solidFill>
              </a:rPr>
              <a:t> </a:t>
            </a:r>
            <a:endParaRPr lang="zh-CN" altLang="en-US" sz="3700" dirty="0">
              <a:solidFill>
                <a:srgbClr val="000000"/>
              </a:solidFill>
            </a:endParaRPr>
          </a:p>
        </p:txBody>
      </p:sp>
      <p:sp>
        <p:nvSpPr>
          <p:cNvPr id="15" name="Text box">
            <a:extLst>
              <a:ext uri="{FF2B5EF4-FFF2-40B4-BE49-F238E27FC236}">
                <a16:creationId xmlns:a16="http://schemas.microsoft.com/office/drawing/2014/main" id="{4601A06D-E891-F7D3-0D74-F5EE40252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648" y="6305550"/>
            <a:ext cx="457200" cy="32838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7</a:t>
            </a:fld>
            <a:endParaRPr lang="zh-CN" altLang="en-US" sz="1200" b="0" i="0" u="none" strike="noStrike" kern="1200" cap="none" spc="0" baseline="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16" name="Text box">
            <a:extLst>
              <a:ext uri="{FF2B5EF4-FFF2-40B4-BE49-F238E27FC236}">
                <a16:creationId xmlns:a16="http://schemas.microsoft.com/office/drawing/2014/main" id="{56E64A78-1EED-854F-E271-4A68453EBC54}"/>
              </a:ext>
            </a:extLst>
          </p:cNvPr>
          <p:cNvSpPr txBox="1">
            <a:spLocks/>
          </p:cNvSpPr>
          <p:nvPr/>
        </p:nvSpPr>
        <p:spPr>
          <a:xfrm>
            <a:off x="1284940" y="6453420"/>
            <a:ext cx="864119" cy="3283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defPPr>
              <a:defRPr lang="zh-CN"/>
            </a:defPPr>
            <a:lvl1pPr marL="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1pPr>
            <a:lvl2pPr marL="4572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2pPr>
            <a:lvl3pPr marL="9144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3pPr>
            <a:lvl4pPr marL="13716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4pPr>
            <a:lvl5pPr marL="18288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5pPr>
            <a:lvl6pPr marL="22860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6pPr>
            <a:lvl7pPr marL="27432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7pPr>
            <a:lvl8pPr marL="32004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8pPr>
            <a:lvl9pPr marL="32004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9pPr>
          </a:lstStyle>
          <a:p>
            <a:pPr algn="r"/>
            <a:r>
              <a:rPr lang="en-US" altLang="zh-CN" sz="120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13/9/2025</a:t>
            </a:r>
            <a:endParaRPr lang="zh-CN" altLang="en-US" sz="120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17" name="Text box">
            <a:extLst>
              <a:ext uri="{FF2B5EF4-FFF2-40B4-BE49-F238E27FC236}">
                <a16:creationId xmlns:a16="http://schemas.microsoft.com/office/drawing/2014/main" id="{1C3628DF-69BA-D035-05F6-A52C149E2BA3}"/>
              </a:ext>
            </a:extLst>
          </p:cNvPr>
          <p:cNvSpPr txBox="1">
            <a:spLocks/>
          </p:cNvSpPr>
          <p:nvPr/>
        </p:nvSpPr>
        <p:spPr>
          <a:xfrm>
            <a:off x="3805289" y="6453420"/>
            <a:ext cx="3096430" cy="3283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defPPr>
              <a:defRPr lang="zh-CN"/>
            </a:defPPr>
            <a:lvl1pPr marL="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1pPr>
            <a:lvl2pPr marL="4572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2pPr>
            <a:lvl3pPr marL="9144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3pPr>
            <a:lvl4pPr marL="13716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4pPr>
            <a:lvl5pPr marL="18288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5pPr>
            <a:lvl6pPr marL="22860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6pPr>
            <a:lvl7pPr marL="27432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7pPr>
            <a:lvl8pPr marL="32004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8pPr>
            <a:lvl9pPr marL="3200400" indent="0" algn="l" defTabSz="914400" eaLnBrk="1" fontAlgn="auto" latinLnBrk="0" hangingPunct="1">
              <a:buNone/>
              <a:defRPr sz="1800" kern="1200">
                <a:solidFill>
                  <a:schemeClr val="tx1"/>
                </a:solidFill>
                <a:latin typeface="Droid Sans" charset="0"/>
                <a:ea typeface="宋体" charset="0"/>
                <a:cs typeface="Droid Sans" charset="0"/>
              </a:defRPr>
            </a:lvl9pPr>
          </a:lstStyle>
          <a:p>
            <a:r>
              <a:rPr lang="en-IN" altLang="zh-CN" sz="120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Image Enhancement techniques</a:t>
            </a:r>
            <a:endParaRPr lang="zh-CN" altLang="en-US" sz="120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EEAB9844-41C7-03A4-9468-45A5FDE5CD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4941" y="462151"/>
            <a:ext cx="695956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 B. Frequency Domain Techniques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   </a:t>
            </a:r>
          </a:p>
          <a:p>
            <a:pPr marL="0" lvl="0" indent="0" rt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   </a:t>
            </a:r>
            <a:r>
              <a:rPr lang="en-US" sz="1800" dirty="0"/>
              <a:t>The concept of filtering is easier to visualize in the frequency domain.</a:t>
            </a: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1.Fourier Transform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&gt;Converts an image from spatial domain to frequency domain.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&gt;Helps in emphasizing or suppressing specific frequency components.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2.Low-Pass Filtering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&gt;Removes high-frequency noise and smooths the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3.High-Pass Filtering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&gt;Highlights edges and fine structures.</a:t>
            </a:r>
          </a:p>
        </p:txBody>
      </p:sp>
    </p:spTree>
    <p:extLst>
      <p:ext uri="{BB962C8B-B14F-4D97-AF65-F5344CB8AC3E}">
        <p14:creationId xmlns:p14="http://schemas.microsoft.com/office/powerpoint/2010/main" val="1086720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0D1F3-BE35-C01D-7D3D-899FA5E8AAC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2032" y="6273590"/>
            <a:ext cx="2133599" cy="476250"/>
          </a:xfrm>
        </p:spPr>
        <p:txBody>
          <a:bodyPr/>
          <a:lstStyle/>
          <a:p>
            <a:pPr algn="r" eaLnBrk="1" latinLnBrk="0" hangingPunct="1"/>
            <a:r>
              <a:rPr lang="en-US" altLang="zh-CN" sz="120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13/9/2025</a:t>
            </a:r>
            <a:endParaRPr lang="zh-CN" altLang="en-US" sz="120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27A0C-B5EF-2711-B98E-754DAEA37EC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699740" y="6305550"/>
            <a:ext cx="6432228" cy="444290"/>
          </a:xfrm>
        </p:spPr>
        <p:txBody>
          <a:bodyPr/>
          <a:lstStyle/>
          <a:p>
            <a:pPr eaLnBrk="1" latinLnBrk="0" hangingPunct="1"/>
            <a:r>
              <a:rPr lang="zh-CN" altLang="en-US" sz="120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                                     </a:t>
            </a:r>
            <a:r>
              <a:rPr lang="en-IN" altLang="zh-CN" sz="120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Image Enhancement Techniques                                                        8</a:t>
            </a:r>
            <a:endParaRPr lang="zh-CN" altLang="en-US" sz="120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1B3EB0-51DB-62FC-6C82-D732937F6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20" y="404580"/>
            <a:ext cx="5265268" cy="26643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8A0F7B-D9BB-2F12-6B20-8BEFDD5CC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20" y="3429000"/>
            <a:ext cx="5067300" cy="252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91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box"/>
          <p:cNvSpPr>
            <a:spLocks noGrp="1"/>
          </p:cNvSpPr>
          <p:nvPr>
            <p:ph type="dt" idx="10"/>
          </p:nvPr>
        </p:nvSpPr>
        <p:spPr>
          <a:xfrm>
            <a:off x="1292353" y="6457610"/>
            <a:ext cx="975328" cy="3241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13/9/2025</a:t>
            </a:r>
            <a:endParaRPr lang="zh-CN" altLang="en-US" sz="1200" b="0" i="0" u="none" strike="noStrike" kern="1200" cap="none" spc="0" baseline="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68" name="Text box"/>
          <p:cNvSpPr>
            <a:spLocks noGrp="1"/>
          </p:cNvSpPr>
          <p:nvPr>
            <p:ph type="ftr" idx="11"/>
          </p:nvPr>
        </p:nvSpPr>
        <p:spPr>
          <a:xfrm>
            <a:off x="4211950" y="6457610"/>
            <a:ext cx="4032560" cy="4003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zh-CN" sz="1200" b="0" i="0" u="none" strike="noStrike" kern="1200" cap="none" spc="0" baseline="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Image Enhancement Technique</a:t>
            </a:r>
            <a:endParaRPr lang="zh-CN" altLang="en-US" sz="1200" b="0" i="0" u="none" strike="noStrike" kern="1200" cap="none" spc="0" baseline="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69" name="Text box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9</a:t>
            </a:fld>
            <a:endParaRPr lang="zh-CN" altLang="en-US" sz="1200" b="0" i="0" u="none" strike="noStrike" kern="1200" cap="none" spc="0" baseline="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2" name="Rectangle"/>
          <p:cNvSpPr>
            <a:spLocks/>
          </p:cNvSpPr>
          <p:nvPr/>
        </p:nvSpPr>
        <p:spPr>
          <a:xfrm>
            <a:off x="755470" y="620610"/>
            <a:ext cx="8209140" cy="6463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Gill Sans MT" charset="0"/>
              <a:ea typeface="华文中宋" charset="0"/>
              <a:cs typeface="Gill Sans MT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FFCF6495-F009-21CC-248C-A19F714F974F}"/>
              </a:ext>
            </a:extLst>
          </p:cNvPr>
          <p:cNvSpPr>
            <a:spLocks/>
          </p:cNvSpPr>
          <p:nvPr/>
        </p:nvSpPr>
        <p:spPr>
          <a:xfrm>
            <a:off x="1292352" y="773010"/>
            <a:ext cx="7824658" cy="6463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Gill Sans MT" charset="0"/>
              <a:ea typeface="华文中宋" charset="0"/>
              <a:cs typeface="Gill Sans MT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DE1C14-E8B0-3DFC-6987-163A057E7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515" y="332570"/>
            <a:ext cx="5780088" cy="30964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16FF1B-0BFA-A981-6650-579710A6B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9775" y="3429000"/>
            <a:ext cx="5852828" cy="280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869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box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 pitchFamily="18" charset="0"/>
                <a:ea typeface="华文中宋" charset="0"/>
                <a:cs typeface="Times New Roman" pitchFamily="18" charset="0"/>
              </a:rPr>
              <a:t> </a:t>
            </a:r>
            <a:r>
              <a:rPr lang="en-US" altLang="zh-CN" sz="3600" b="1" i="0" u="sng" strike="noStrike" kern="1200" cap="none" spc="0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 pitchFamily="18" charset="0"/>
                <a:ea typeface="华文中宋" charset="0"/>
                <a:cs typeface="Times New Roman" pitchFamily="18" charset="0"/>
              </a:rPr>
              <a:t>Applications </a:t>
            </a:r>
            <a:r>
              <a:rPr lang="en-US" altLang="zh-CN" sz="36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across industries</a:t>
            </a:r>
            <a:r>
              <a:rPr lang="en-US" altLang="zh-CN" sz="3600" b="1" i="0" u="sng" strike="noStrike" kern="1200" cap="none" spc="0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 pitchFamily="18" charset="0"/>
                <a:ea typeface="华文中宋" charset="0"/>
                <a:cs typeface="Times New Roman" pitchFamily="18" charset="0"/>
              </a:rPr>
              <a:t> </a:t>
            </a:r>
            <a:endParaRPr lang="zh-CN" altLang="en-US" sz="3600" b="1" i="0" u="sng" strike="noStrike" kern="1200" cap="none" spc="0" baseline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000"/>
                  </a:srgbClr>
                </a:outerShdw>
              </a:effectLst>
              <a:latin typeface="Times New Roman" pitchFamily="18" charset="0"/>
              <a:ea typeface="华文中宋" charset="0"/>
              <a:cs typeface="Times New Roman" pitchFamily="18" charset="0"/>
            </a:endParaRPr>
          </a:p>
        </p:txBody>
      </p:sp>
      <p:sp>
        <p:nvSpPr>
          <p:cNvPr id="72" name="Text box"/>
          <p:cNvSpPr>
            <a:spLocks noGrp="1"/>
          </p:cNvSpPr>
          <p:nvPr>
            <p:ph type="dt" idx="10"/>
          </p:nvPr>
        </p:nvSpPr>
        <p:spPr>
          <a:xfrm>
            <a:off x="1043511" y="6453420"/>
            <a:ext cx="936129" cy="3283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13/9/2025</a:t>
            </a:r>
            <a:endParaRPr lang="zh-CN" altLang="en-US" sz="1200" b="0" i="0" u="none" strike="noStrike" kern="1200" cap="none" spc="0" baseline="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73" name="Text box"/>
          <p:cNvSpPr>
            <a:spLocks noGrp="1"/>
          </p:cNvSpPr>
          <p:nvPr>
            <p:ph type="ftr" idx="11"/>
          </p:nvPr>
        </p:nvSpPr>
        <p:spPr>
          <a:xfrm>
            <a:off x="4067930" y="6381690"/>
            <a:ext cx="4542670" cy="40011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zh-CN" sz="1200" b="0" i="0" u="none" strike="noStrike" kern="1200" cap="none" spc="0" baseline="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Image Enhancement Techniques</a:t>
            </a:r>
            <a:endParaRPr lang="zh-CN" altLang="en-US" sz="1200" b="0" i="0" u="none" strike="noStrike" kern="1200" cap="none" spc="0" baseline="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74" name="Text box"/>
          <p:cNvSpPr>
            <a:spLocks noGrp="1"/>
          </p:cNvSpPr>
          <p:nvPr>
            <p:ph type="sldNum" idx="12"/>
          </p:nvPr>
        </p:nvSpPr>
        <p:spPr>
          <a:xfrm>
            <a:off x="8613648" y="6305550"/>
            <a:ext cx="457200" cy="400107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10</a:t>
            </a:fld>
            <a:endParaRPr lang="zh-CN" altLang="en-US" sz="1200" b="0" i="0" u="none" strike="noStrike" kern="1200" cap="none" spc="0" baseline="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102A32-FC8C-D9E5-2D3F-AC866F959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CCTV footage, fingerprints, and evidence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F82F5F-C23A-61A4-586E-9AE35E9F6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0134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"/>
          <p:cNvSpPr>
            <a:spLocks noGrp="1"/>
          </p:cNvSpPr>
          <p:nvPr>
            <p:ph type="body" idx="1"/>
          </p:nvPr>
        </p:nvSpPr>
        <p:spPr>
          <a:xfrm>
            <a:off x="1435100" y="1447800"/>
            <a:ext cx="4073030" cy="150810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932688" lvl="4" indent="0">
              <a:buNone/>
            </a:pPr>
            <a:r>
              <a:rPr lang="en-IN" dirty="0"/>
              <a:t>1.Medical Image</a:t>
            </a:r>
          </a:p>
          <a:p>
            <a:pPr marL="932688" lvl="4" indent="0">
              <a:buNone/>
            </a:pPr>
            <a:r>
              <a:rPr lang="en-IN" dirty="0"/>
              <a:t>2.Defence and Security</a:t>
            </a:r>
          </a:p>
          <a:p>
            <a:pPr marL="932688" lvl="4" indent="0">
              <a:buNone/>
            </a:pPr>
            <a:r>
              <a:rPr lang="en-IN" dirty="0"/>
              <a:t>3.Industrial Inspection</a:t>
            </a:r>
          </a:p>
          <a:p>
            <a:pPr marL="932688" lvl="4" indent="0">
              <a:buNone/>
            </a:pPr>
            <a:r>
              <a:rPr lang="en-IN" dirty="0"/>
              <a:t>4.Consumer Electronics etc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893E24-C495-356D-7F4A-148059BF7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20" y="3032045"/>
            <a:ext cx="7098069" cy="327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708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FC84E-F5C0-10C8-2EC6-3ACA14E2E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72CFA-7251-64F9-89A4-7B93D8825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608" y="1700760"/>
            <a:ext cx="7312972" cy="3096430"/>
          </a:xfrm>
        </p:spPr>
        <p:txBody>
          <a:bodyPr/>
          <a:lstStyle/>
          <a:p>
            <a:pPr marL="82169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&gt;</a:t>
            </a:r>
            <a:r>
              <a:rPr lang="en-US" sz="2400" dirty="0"/>
              <a:t>Image enhancement is an essential step in digital image processing.</a:t>
            </a:r>
          </a:p>
          <a:p>
            <a:pPr marL="82169" indent="0">
              <a:buNone/>
            </a:pPr>
            <a:br>
              <a:rPr lang="en-US" sz="2400" dirty="0"/>
            </a:br>
            <a:r>
              <a:rPr lang="en-US" sz="2400" dirty="0">
                <a:solidFill>
                  <a:schemeClr val="accent1"/>
                </a:solidFill>
              </a:rPr>
              <a:t>&gt;</a:t>
            </a:r>
            <a:r>
              <a:rPr lang="en-US" sz="2400" dirty="0"/>
              <a:t>It improves image quality, enhances visibility of key features, and supports effective analysis across different applications.</a:t>
            </a:r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9FD90-2AA2-CC50-C229-91CA6140E09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187531" y="6381410"/>
            <a:ext cx="1008139" cy="400390"/>
          </a:xfrm>
        </p:spPr>
        <p:txBody>
          <a:bodyPr/>
          <a:lstStyle/>
          <a:p>
            <a:pPr algn="r" eaLnBrk="1" latinLnBrk="0" hangingPunct="1"/>
            <a:r>
              <a:rPr lang="en-US" altLang="zh-CN" sz="120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13/9/2025</a:t>
            </a:r>
            <a:endParaRPr lang="zh-CN" altLang="en-US" sz="120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E588C-E846-DC65-4EC3-4E3BC4CD73E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211950" y="6021360"/>
            <a:ext cx="4932050" cy="720100"/>
          </a:xfrm>
        </p:spPr>
        <p:txBody>
          <a:bodyPr/>
          <a:lstStyle/>
          <a:p>
            <a:pPr eaLnBrk="1" latinLnBrk="0" hangingPunct="1"/>
            <a:r>
              <a:rPr lang="en-US" altLang="zh-CN" sz="120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Image Enhancement Techniques                                                           10</a:t>
            </a:r>
            <a:endParaRPr lang="zh-CN" altLang="en-US" sz="120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958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zh-CN" altLang="en-US" sz="3600" b="1" i="0" u="sng" strike="noStrike" kern="1200" cap="none" spc="0" baseline="0" dirty="0">
              <a:solidFill>
                <a:schemeClr val="tx1"/>
              </a:solidFill>
              <a:latin typeface="Gill Sans MT" charset="0"/>
              <a:ea typeface="华文中宋" charset="0"/>
              <a:cs typeface="Lucida Sans"/>
            </a:endParaRPr>
          </a:p>
        </p:txBody>
      </p:sp>
      <p:sp>
        <p:nvSpPr>
          <p:cNvPr id="82" name="Text box"/>
          <p:cNvSpPr>
            <a:spLocks noGrp="1"/>
          </p:cNvSpPr>
          <p:nvPr>
            <p:ph type="dt" sz="half" idx="10"/>
          </p:nvPr>
        </p:nvSpPr>
        <p:spPr>
          <a:xfrm>
            <a:off x="1187531" y="6453420"/>
            <a:ext cx="936129" cy="3283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13/9/2025</a:t>
            </a:r>
            <a:endParaRPr lang="zh-CN" altLang="en-US" sz="1200" b="0" i="0" u="none" strike="noStrike" kern="1200" cap="none" spc="0" baseline="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83" name="Text box"/>
          <p:cNvSpPr>
            <a:spLocks noGrp="1"/>
          </p:cNvSpPr>
          <p:nvPr>
            <p:ph type="ftr" sz="quarter" idx="11"/>
          </p:nvPr>
        </p:nvSpPr>
        <p:spPr>
          <a:xfrm>
            <a:off x="4067930" y="6453420"/>
            <a:ext cx="4542670" cy="3283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Image Enhancement Techniques</a:t>
            </a:r>
            <a:endParaRPr lang="zh-CN" altLang="en-US" sz="1200" b="0" i="0" u="none" strike="noStrike" kern="1200" cap="none" spc="0" baseline="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84" name="Text box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12</a:t>
            </a:fld>
            <a:endParaRPr lang="zh-CN" altLang="en-US" sz="1200" b="0" i="0" u="none" strike="noStrike" kern="1200" cap="none" spc="0" baseline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7F85890-3311-34E9-85A0-726596C232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35608" y="1465092"/>
            <a:ext cx="731297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Richard E. Woods,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Image 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4th Edition, Pearson Education.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2.Anil K. Jain,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Fundamentals of Digital Image 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Prentice Hall.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3.B. Chanda &amp; D. Dutta Majumder,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Image Processing and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PHI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Sridhar,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Image 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Oxford University Press.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5.IEEE Papers and Journals on Image Enhancement and Machine Vision (2015–2024).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868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box"/>
          <p:cNvSpPr>
            <a:spLocks noGrp="1"/>
          </p:cNvSpPr>
          <p:nvPr>
            <p:ph type="body" idx="1"/>
          </p:nvPr>
        </p:nvSpPr>
        <p:spPr>
          <a:xfrm>
            <a:off x="1219200" y="2057400"/>
            <a:ext cx="7315200" cy="33527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65633" indent="-28346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9600" b="0" i="0" u="none" strike="noStrike" kern="1200" cap="none" spc="0" baseline="0" dirty="0">
                <a:solidFill>
                  <a:srgbClr val="C58D01"/>
                </a:solidFill>
                <a:latin typeface="Monotype Corsiva" pitchFamily="66" charset="0"/>
                <a:ea typeface="华文中宋" charset="0"/>
                <a:cs typeface="Lucida Sans"/>
              </a:rPr>
              <a:t>Thank</a:t>
            </a:r>
            <a:br>
              <a:rPr lang="zh-CN" altLang="en-US" sz="9600" b="0" i="0" u="none" strike="noStrike" kern="1200" cap="none" spc="0" baseline="0" dirty="0">
                <a:solidFill>
                  <a:srgbClr val="C58D01"/>
                </a:solidFill>
                <a:latin typeface="Monotype Corsiva" pitchFamily="66" charset="0"/>
                <a:ea typeface="华文中宋" charset="0"/>
                <a:cs typeface="Lucida Sans"/>
              </a:rPr>
            </a:br>
            <a:r>
              <a:rPr lang="en-US" altLang="zh-CN" sz="9600" b="0" i="0" u="none" strike="noStrike" kern="1200" cap="none" spc="0" baseline="0" dirty="0">
                <a:solidFill>
                  <a:srgbClr val="C58D01"/>
                </a:solidFill>
                <a:latin typeface="Monotype Corsiva" pitchFamily="66" charset="0"/>
                <a:ea typeface="华文中宋" charset="0"/>
                <a:cs typeface="Lucida Sans"/>
              </a:rPr>
              <a:t>        YOU</a:t>
            </a:r>
          </a:p>
          <a:p>
            <a:pPr marL="365633" indent="-28346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zh-CN" altLang="en-US" sz="4000" b="1" i="0" u="none" strike="noStrike" kern="1200" cap="none" spc="0" baseline="0" dirty="0">
              <a:solidFill>
                <a:srgbClr val="35436A"/>
              </a:solidFill>
              <a:effectLst>
                <a:outerShdw blurRad="38100" dist="38100" dir="2700000" algn="tl">
                  <a:srgbClr val="000000">
                    <a:alpha val="43000"/>
                  </a:srgbClr>
                </a:outerShdw>
              </a:effectLst>
              <a:latin typeface="Times New Roman" pitchFamily="18" charset="0"/>
              <a:ea typeface="华文中宋" charset="0"/>
              <a:cs typeface="Times New Roman" pitchFamily="18" charset="0"/>
            </a:endParaRPr>
          </a:p>
        </p:txBody>
      </p:sp>
      <p:sp>
        <p:nvSpPr>
          <p:cNvPr id="87" name="Text box"/>
          <p:cNvSpPr>
            <a:spLocks noGrp="1"/>
          </p:cNvSpPr>
          <p:nvPr>
            <p:ph type="dt" idx="10"/>
          </p:nvPr>
        </p:nvSpPr>
        <p:spPr>
          <a:xfrm>
            <a:off x="1143000" y="6453420"/>
            <a:ext cx="980660" cy="3283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13/9/2025</a:t>
            </a:r>
            <a:endParaRPr lang="zh-CN" altLang="en-US" sz="1200" b="0" i="0" u="none" strike="noStrike" kern="1200" cap="none" spc="0" baseline="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88" name="Text box"/>
          <p:cNvSpPr>
            <a:spLocks noGrp="1"/>
          </p:cNvSpPr>
          <p:nvPr>
            <p:ph type="ftr" idx="11"/>
          </p:nvPr>
        </p:nvSpPr>
        <p:spPr>
          <a:xfrm>
            <a:off x="3923910" y="6453420"/>
            <a:ext cx="4077090" cy="3283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IN" altLang="zh-CN" sz="1200" b="0" i="0" u="none" strike="noStrike" kern="1200" cap="none" spc="0" baseline="0" dirty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Image Enhancement Techniques</a:t>
            </a:r>
            <a:endParaRPr lang="zh-CN" altLang="en-US" sz="1200" b="0" i="0" u="none" strike="noStrike" kern="1200" cap="none" spc="0" baseline="0" dirty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  <p:sp>
        <p:nvSpPr>
          <p:cNvPr id="89" name="Text box"/>
          <p:cNvSpPr>
            <a:spLocks noGrp="1"/>
          </p:cNvSpPr>
          <p:nvPr>
            <p:ph type="sldNum" idx="12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D20000"/>
                </a:solidFill>
                <a:latin typeface="Gill Sans MT" charset="0"/>
                <a:ea typeface="华文中宋" charset="0"/>
                <a:cs typeface="Gill Sans MT" charset="0"/>
              </a:rPr>
              <a:t>13</a:t>
            </a:fld>
            <a:endParaRPr lang="zh-CN" altLang="en-US" sz="1200" b="0" i="0" u="none" strike="noStrike" kern="1200" cap="none" spc="0" baseline="0">
              <a:solidFill>
                <a:srgbClr val="D20000"/>
              </a:solidFill>
              <a:latin typeface="Gill Sans MT" charset="0"/>
              <a:ea typeface="华文中宋" charset="0"/>
              <a:cs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41544"/>
      </p:ext>
    </p:extLst>
  </p:cSld>
  <p:clrMapOvr>
    <a:masterClrMapping/>
  </p:clrMapOvr>
</p:sld>
</file>

<file path=ppt/theme/theme1.xml><?xml version="1.0" encoding="utf-8"?>
<a:theme xmlns:a="http://schemas.openxmlformats.org/drawingml/2006/main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C00000"/>
      </a:lt2>
      <a:accent1>
        <a:srgbClr val="3891A7"/>
      </a:accent1>
      <a:accent2>
        <a:srgbClr val="FEB80A"/>
      </a:accent2>
      <a:accent3>
        <a:srgbClr val="FF0000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BF0000"/>
      </a:folHlink>
    </a:clrScheme>
    <a:fontScheme name="Solst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Solstic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14621</TotalTime>
  <Words>717</Words>
  <Application>Microsoft Office PowerPoint</Application>
  <PresentationFormat>On-screen Show (4:3)</PresentationFormat>
  <Paragraphs>140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Aparajita</vt:lpstr>
      <vt:lpstr>Arial</vt:lpstr>
      <vt:lpstr>Calibri</vt:lpstr>
      <vt:lpstr>Cambria Math</vt:lpstr>
      <vt:lpstr>Droid Sans</vt:lpstr>
      <vt:lpstr>Gill Sans MT</vt:lpstr>
      <vt:lpstr>Monotype Corsiva</vt:lpstr>
      <vt:lpstr>Times New Roman</vt:lpstr>
      <vt:lpstr>Verdana</vt:lpstr>
      <vt:lpstr>Wingdings</vt:lpstr>
      <vt:lpstr>Wingdings 2</vt:lpstr>
      <vt:lpstr>Solstice</vt:lpstr>
      <vt:lpstr>Image Enhancement Technique</vt:lpstr>
      <vt:lpstr>Contents</vt:lpstr>
      <vt:lpstr>Introduction</vt:lpstr>
      <vt:lpstr>Objectives</vt:lpstr>
      <vt:lpstr> </vt:lpstr>
      <vt:lpstr>PowerPoint Presentation</vt:lpstr>
      <vt:lpstr> </vt:lpstr>
      <vt:lpstr>PowerPoint Presentation</vt:lpstr>
      <vt:lpstr>PowerPoint Presentation</vt:lpstr>
      <vt:lpstr> Applications across industries 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Bluetooth Low Energy(BLE) based Mobile Electrocardiogram Monitoring System</dc:title>
  <dc:creator>HCL</dc:creator>
  <cp:lastModifiedBy>Soubhagya Sukla</cp:lastModifiedBy>
  <cp:revision>396</cp:revision>
  <cp:lastPrinted>2025-10-10T18:43:18Z</cp:lastPrinted>
  <dcterms:created xsi:type="dcterms:W3CDTF">2014-01-30T03:10:56Z</dcterms:created>
  <dcterms:modified xsi:type="dcterms:W3CDTF">2025-10-13T11:35:44Z</dcterms:modified>
</cp:coreProperties>
</file>